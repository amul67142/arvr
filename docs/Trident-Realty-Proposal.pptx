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Discovery</c:v>
                  </c:pt>
                  <c:pt idx="1">
                    <c:v>Design</c:v>
                  </c:pt>
                  <c:pt idx="2">
                    <c:v>Build &amp; inventory</c:v>
                  </c:pt>
                  <c:pt idx="3">
                    <c:v>Content, QA, UAT</c:v>
                  </c:pt>
                  <c:pt idx="4">
                    <c:v>Launch</c:v>
                  </c:pt>
                  <c:pt idx="5">
                    <c:v>Render processing</c:v>
                  </c:pt>
                  <c:pt idx="6">
                    <c:v>Experience config</c:v>
                  </c:pt>
                  <c:pt idx="7">
                    <c:v>Booking engine</c:v>
                  </c:pt>
                  <c:pt idx="8">
                    <c:v>Salesman mode</c:v>
                  </c:pt>
                  <c:pt idx="9">
                    <c:v>Security, UAT, training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0.5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Discovery</c:v>
                  </c:pt>
                  <c:pt idx="1">
                    <c:v>Design</c:v>
                  </c:pt>
                  <c:pt idx="2">
                    <c:v>Build &amp; inventory</c:v>
                  </c:pt>
                  <c:pt idx="3">
                    <c:v>Content, QA, UAT</c:v>
                  </c:pt>
                  <c:pt idx="4">
                    <c:v>Launch</c:v>
                  </c:pt>
                  <c:pt idx="5">
                    <c:v>Render processing</c:v>
                  </c:pt>
                  <c:pt idx="6">
                    <c:v>Experience config</c:v>
                  </c:pt>
                  <c:pt idx="7">
                    <c:v>Booking engine</c:v>
                  </c:pt>
                  <c:pt idx="8">
                    <c:v>Salesman mode</c:v>
                  </c:pt>
                  <c:pt idx="9">
                    <c:v>Security, UAT, training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1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178"/>
                    </a:solidFill>
                    <a:latin typeface="Arial"/>
                  </a:rPr>
                  <a:t>Weeks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this is two products in one platform — a listing website that works on its own, and an immersive sales tool that closes the buyer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proposal hangs on this slide. Everything after it is how we make the second row happen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amounts before sending. Gateway transaction fees are paid by Trident to the gateway directly and are not our charge — say so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828800"/>
            <a:ext cx="4754880" cy="475488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72600" y="3063240"/>
            <a:ext cx="2286000" cy="2286000"/>
          </a:xfrm>
          <a:prstGeom prst="ellipse">
            <a:avLst/>
          </a:prstGeom>
          <a:solidFill>
            <a:srgbClr val="141B45">
              <a:alpha val="0"/>
            </a:srgbClr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·  23 SEPTEMBER 2026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Trident Realty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project website that lists every unit —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an immersive tour that ends in a booking.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Unit listing website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Immersive 3D tour + direct token booking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you are losing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at the end of a site visit decides the sale.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tour that ends in "please fill this enquiry form" wastes the conviction it just created. The buyer leaves to think it over. The follow-up call starts cold, and the flat stays available for someone else.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not a better brochure. It is to let the buyer commit while they are still standing in the home they just walked through.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 →  enquiry form  →  follow-up call  →  maybe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33101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374904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294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 →  unit blocked  →  token paid  →  receipt on the buyer’s phone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jobs, two phases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stands on its own. Phase 2 turns the same inventory into a closing tool.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website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to the visitor who found you online.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291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listed, filterable and priced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areas, facing, availability, gallery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OTP-verified enquiries that record the unit viewed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leads managed from one admin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on its own, before Phase 2 is ready.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immersive booking layer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buyer sitting in front of your executive.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291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tower, pick a floor, open a home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walk-through of that home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unit and collect the token, live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Salesman mode for the tablet and the lounge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 engine that already works today.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the project website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mobile-first, and built around the inventory rather than around a brochure.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3774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04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listing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in the project, filtered by tower, BHK, floor, facing, area and budget.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210312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23774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54296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2404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detail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carpet and super built-up area, facing, floor, indicative price, live status.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210312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23774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75904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0536" y="2404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 plans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floor plates per tower and a plan for every unit type.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7764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" y="42519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Amenities &amp; gallery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renders with descriptions, exteriors, interiors, site progress.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61688" y="397764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54296" y="42519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54296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38928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54296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connectivity, landmarks and distances.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3296" y="397764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75904" y="42519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75904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860536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RERA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375904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numbers, disclaimers, privacy policy and terms.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the engine behind it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decides whether the site is useful six months after launch.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747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every unit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from your existing Excel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→ Blocked → Booked → Sold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logged with who and when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public, on request, or staff-only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4747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81728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7432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verification, so numbers are real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lead records the unit being viewed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WhatsApp / SMS to the buyer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to the assigned executive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assignment, notes, export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1965960"/>
            <a:ext cx="34747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03336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7432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price-list editing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gallery and FAQ management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admin, sales head, executive, finance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 needed for day-to-day changes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 and manual at handover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the buyer’s journey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one screen, no dead ends.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2219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the tower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7157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rotate the building. The tower is outlined and live.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1688" y="196596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22219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54296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floor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7157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highlight one by one: "4 of 4 homes available, from ₹X Cr".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83296" y="196596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22219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75904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78824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homes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7157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plate opens, cut into flats, coloured by type, sold ones greyed.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" y="41422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home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46360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detail, the plan drawn to scale, interior renders, price break-up.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61688" y="388620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54296" y="41422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54296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57216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it in 360°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54296" y="46360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room through doorway arrows, or a walkable 3D model.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83296" y="388620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75904" y="414223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75904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878824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it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375904" y="46360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unit and pay the token, in the same screen.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870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to 5 are working software today — we will show you. Step 6 is what Phase 2 adds.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Salesman mode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platform, logged in, built for a tablet in the sales lounge.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view: full screen, no clutter, controls big enough for a finger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— a flat booked in another office turns grey in front of the buyer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unit with one tap and a visible countdown; holds expire and release themselves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sheet computed from the rate card: base, floor rise, PLC, parking, charges, GST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token then and there, on the buyer’s own phone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Hand-off: unit status, buyer details and payment reference reach the CRM with no re-entry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 executive: tours given, units blocked, tokens collected, conversion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89520" y="196596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0956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with a live, interactive tower on a tablet outsells the one holding a printed price list — and never quotes a flat that was sold an hour ago.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489204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0956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offline-tolerant: if the site network drops, the payment link goes to the buyer by SMS.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token is collected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"I like this one" to a booked unit and a receipt.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4942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249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holds the unit. A countdown starts.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514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61688" y="201168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224942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36008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11496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36008" y="27249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details, phone verified by OTP.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653528" y="2514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83296" y="201168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57616" y="224942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57616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33104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sheet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27249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the rate card and agreed on screen.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12394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89888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5994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request is raised against that unit.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4389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361688" y="388620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36008" y="412394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36008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111496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45994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pays on their own phone — UPI QR or link.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653528" y="4389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083296" y="388620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57616" y="412394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57616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833104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357616" y="45994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confirms to our server. Unit booked, receipt sent.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changes status only when the gateway confirms to our server — never on what a browser claims. A failed or abandoned payment releases the hold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that protect Trident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your compliance and finance teams will ask about first.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C2557"/>
          </a:solidFill>
          <a:ln w="12700">
            <a:solidFill>
              <a:srgbClr val="1C2557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33172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40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never touches 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880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settle directly into Trident Realty’s own merchant account, on the gateway’s normal cycle. We do not hold, route or disburse buyer funds.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C2557"/>
          </a:solidFill>
          <a:ln w="12700">
            <a:solidFill>
              <a:srgbClr val="1C2557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56832" y="233172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56832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340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buyer pays on their own phone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2880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executive never types a card number, CVV, UPI PIN or OTP. No card data reaches the tablet or our servers, which keeps the system out of PCI-DSS scope.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C2557"/>
          </a:solidFill>
          <a:ln w="12700">
            <a:solidFill>
              <a:srgbClr val="1C2557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7552" y="438912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755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3982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flat is ever sold twice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4937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is written in one locked database transaction. Two executives booking the same flat in the same second produce one booking and one clear message.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C2557"/>
          </a:solidFill>
          <a:ln w="12700">
            <a:solidFill>
              <a:srgbClr val="1C2557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56832" y="438912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5683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3982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money, no booking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656832" y="4937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changes on the gateway’s signed server confirmation only. Every hold, payment attempt, status change and refund is logged and exportable for audit.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legal wrapper around a booking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Shown, and accepted, before the pay button.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registration number of the project and agent, with the RERA website link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token is a booking amount, not an allotment — allotment follows Trident’s acceptance and the agreement to sell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cancellation and refund policy, shown and ticked before payment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prices, areas and images are indicative, and renders are artist impressions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treatment of the token, and the receipt and invoice that follow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for data processing under the DPDP Act 2023, and the privacy policy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0" y="1965960"/>
            <a:ext cx="3749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9244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writes 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6974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Trident’s counsel supplies the wording. We build the flow around it and keep a versioned record of exactly which text each buyer accepted, and when.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0" y="452628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9244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and cancellations are performed by Finance from the admin panel, against your published policy, with a reason and an audit trail.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Trident — Phase 1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starts when these arrive, not at signing.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sheet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Excel, one row per unit: tower, floor, flat no., type, carpet, built-up, SBUA, balcony, facing, rate,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 final price is computed — floor rise, PLC, parking, club, statutory charges, GST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floor plate per tower and per floor type; unit plan per type with dimensions. PDF or CAD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&amp; photos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Exterior, interiors, amenities, site progress — at the highest resolution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Specifications, approvals, possession dates, USPs, developer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&amp; 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 numbers, disclaimers, privacy policy, terms; logo, fonts, colours, guidelines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&amp;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or subdomain access, enquiry recipients, and one empowered person to sign 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Trident — Phase 2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renders. They are the long pole — brief the studio in week 1.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Tower orbit renders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180–240 frames, full 360°, 4K, day (night optional) — delivered as numbered frames, not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/ Cryptomatte masks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13–20 stop frames. This is what makes each floor, flat and balcony clickable to the pixel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360° interiors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Equirectangular 2:1, 8000 × 4000, one per room, camera at 1.5 m, one set per unit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3D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GLB or FBX in metres, under ~300k triangles, PBR materials, rooms 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Trident’s own merchant account with KYC complete, test and live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policy &amp; T&amp;C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amount or formula, hold duration, and legally approved booking terms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may block, who may book, who may refund, and approval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60120" y="5532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technical brief for the rendering studio is attached — frame counts, mask passes, camera settings, file naming, and a small pilot batch we test before the full render, so nothing is wasted.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built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made for search visibility, speed on a phone, and money that cannot go missing.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5303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Next.js, server-rendered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visibility for the listing pages, speed on 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Immersive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React + Three.js engine, embedded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built and proven; runs inside any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API + 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 integrity — what makes double-booking impossible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 behind a CDN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Orbit frames and panoramas are large; they stream from the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/ PayU / Cashfree, hosted 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Funds settle to Trident; no card data touches our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cloud, Indian 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residency, latency, DPDP 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 transit and at rest  ·  daily backups with tested restore  ·  uptime monitoring and alerting  ·  rate limiting and bot protection on forms and payment endpoints  ·  full audit log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weeks, assuming inputs arrive on time and feedback returns within three working days.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7589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92024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73252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2423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– 8 weeks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8412480" y="347472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7325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– 12 weeks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parallel to Phase 1. The single biggest risk to this timeline is late renders — which is why the studio is briefed in week 1.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Commercials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phase, so Trident can stop, start or resequence without renegotiating the whole engagement.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22376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(INR)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project website, inventory and lead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2a — immersive experience configured with Trident’s assets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2b — booking engine, payment integration, salesman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processing, per tower and per unit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maintenance and support, from month 2 after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Hosting, CDN and third-party services, at actuals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02920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schedule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440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on signing · 30% on design sign-off · 20% on UAT · 10% on go-live, per phase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61688" y="502920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36008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36008" y="5440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 of warranty after each go-live, then an annual support retainer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83296" y="502920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57616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357616" y="5440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 is valid for 30 days from its date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Trident gets out of it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better-looking website.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today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34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commits while standing in the home they just walked through, not two weeks later on a cold follow-up.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on the spot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834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collected at the moment of maximum conviction, on the buyer’s own phone, with a receipt in seconds.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sold twice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8463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inventory across every office. No evening spent reconciling three spreadsheets.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397764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7512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tour measured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8463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towers get explored, which floors, which units are blocked but not paid — marketing follows evidence.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platform outlives the project — the second Trident project is a configuration, not another build.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Realty  ·  Proposal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235440" y="3108960"/>
            <a:ext cx="4023360" cy="402336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things, and rendering can start in the first week.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762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confirms the phasing, the token policy and who may book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289864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926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issue the studio brief so rendering starts in parallel — the long pole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3648456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758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workshop: inventory sheet and content handover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398264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256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design begins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5800" y="5303520"/>
            <a:ext cx="7589520" cy="868680"/>
          </a:xfrm>
          <a:prstGeom prst="roundRect">
            <a:avLst>
              <a:gd name="adj" fmla="val 6316"/>
            </a:avLst>
          </a:prstGeom>
          <a:solidFill>
            <a:srgbClr val="1C2557"/>
          </a:solidFill>
          <a:ln w="12700">
            <a:solidFill>
              <a:srgbClr val="1C2557"/>
            </a:solidFill>
            <a:prstDash val="solid"/>
          </a:ln>
          <a:effectLst>
            <a:outerShdw sx="100000" sy="100000" kx="0" ky="0" algn="bl" rotWithShape="0" blurRad="127000" dist="25400" dir="5400000">
              <a:srgbClr val="0B103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5468112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be glad to walk your team through the working demo — tower, floors, units, plans and a 360° tour — so it is judged as a working thing rather than a description of one.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Trident Realty — Website &amp; Immersive Booking Proposal</dc:title>
  <dc:subject>PptxGenJS Presentation</dc:subject>
  <dc:creator>Proposal</dc:creator>
  <cp:lastModifiedBy>Proposal</cp:lastModifiedBy>
  <cp:revision>1</cp:revision>
  <dcterms:created xsi:type="dcterms:W3CDTF">2026-09-23T12:49:47Z</dcterms:created>
  <dcterms:modified xsi:type="dcterms:W3CDTF">2026-09-23T12:49:47Z</dcterms:modified>
</cp:coreProperties>
</file>