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08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products in one platform: a listing website that works on its own, and an immersive sales tool that closes the buyer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after this slide is how we make the buyer commit while they are still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8686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4600" b="1" kern="0" spc="-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 website that</a:t>
            </a:r>
            <a:endParaRPr lang="en-US" sz="46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4600" b="1" kern="0" spc="-1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ends in a booking.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listed and priced. Then a tour of the tower, the floor and the flat — with the token paid before the buyer leaves the room.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983480"/>
            <a:ext cx="1645920" cy="0"/>
          </a:xfrm>
          <a:prstGeom prst="line">
            <a:avLst/>
          </a:prstGeom>
          <a:noFill/>
          <a:ln w="19050">
            <a:solidFill>
              <a:srgbClr val="2B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193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Trident Realty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artors.in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tour ends, and so does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conviction.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496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 leaves to think it over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8620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tour that ends in an enquiry form wastes the moment it just created.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3872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520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follow-up call starts cold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862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later, on the phone, against three other projects they also saw.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562856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5445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flat stays on the market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9103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held, so the unit they loved can be sold to someone else meanwhile.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95160" y="2377440"/>
            <a:ext cx="4553712" cy="3108960"/>
          </a:xfrm>
          <a:prstGeom prst="roundRect">
            <a:avLst>
              <a:gd name="adj" fmla="val 176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2461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100" b="1" kern="0" spc="-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CRM full of warm leads</a:t>
            </a:r>
            <a:endParaRPr lang="en-US" sz="21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100" b="1" kern="0" spc="-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an inventory sheet</a:t>
            </a:r>
            <a:endParaRPr lang="en-US" sz="2100" dirty="0"/>
          </a:p>
          <a:p>
            <a:pPr marL="0" indent="0">
              <a:lnSpc>
                <a:spcPts val="3000"/>
              </a:lnSpc>
              <a:buNone/>
            </a:pPr>
            <a:r>
              <a:rPr lang="en-US" sz="2100" b="1" kern="0" spc="-6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never moves.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846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to every sales head.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jobs, two phases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67004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651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website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to the visitor who found you online.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6118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listed, filterable and priced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areas, facing, availability, gallery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OTP-verified enquiries that record the unit viewed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leads managed from one admin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live on its own, before Phase 2 is ready.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45352" y="2286000"/>
            <a:ext cx="5303520" cy="3200400"/>
          </a:xfrm>
          <a:prstGeom prst="roundRect">
            <a:avLst>
              <a:gd name="adj" fmla="val 1714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6832" y="267004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56832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159752" y="2651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immersive booking layer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656832" y="3154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buyer sitting in front of your executive.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56832" y="36118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tower, pick a floor, open a home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 walk-through of that home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unit and collect the token, live</a:t>
            </a:r>
            <a:endParaRPr lang="en-US" sz="135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Salesman mode for the tablet and the lounge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656832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an engine that already works today.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 website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899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5694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listing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990088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 in the project, filtered by tower, BHK, floor, facing, area and budget.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9496" y="2240280"/>
            <a:ext cx="34899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3544" y="25694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detail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33544" y="2990088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carpet and super built-up area, facing, floor, indicative price, live status.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58912" y="2240280"/>
            <a:ext cx="34899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42960" y="25694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 plans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42960" y="2990088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floor plates per tower and a plan for every unit type.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34899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" y="4398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Amenities &amp; gallery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4818888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renders with descriptions, exteriors, interiors, site progress.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9496" y="4069080"/>
            <a:ext cx="34899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33544" y="4398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733544" y="4818888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connectivity, landmarks and distances.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58912" y="4069080"/>
            <a:ext cx="3489960" cy="1600200"/>
          </a:xfrm>
          <a:prstGeom prst="roundRect">
            <a:avLst>
              <a:gd name="adj" fmla="val 3429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42960" y="4398264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RERA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442960" y="4818888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numbers, disclaimers, privacy policy and terms.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first, and fast: the listing pages are server-rendered, so they also rank.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 behind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79"/>
            <a:ext cx="3489960" cy="3506251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606040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154680"/>
            <a:ext cx="271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every unit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from your existing Excel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Available, blocked, booked, sold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 with who and when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public, on request, or staff-only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9496" y="2240279"/>
            <a:ext cx="3489960" cy="3884623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33544" y="2606040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33544" y="3154680"/>
            <a:ext cx="271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verification, so numbers are real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 records the unit being viewed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WhatsApp or SMS to the buyer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 to the assigned executive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assignment, notes, export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58912" y="2240280"/>
            <a:ext cx="3489960" cy="373091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42960" y="2606040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42960" y="3154680"/>
            <a:ext cx="271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and price-list editing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gallery and FAQ management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admin, sales head, executive, finance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developer needed for daily changes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and manual at handover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buyer’s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53288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514600"/>
            <a:ext cx="230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Experience the Project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01752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rotate the building. The tower is outlined and live.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9496" y="224028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3544" y="253288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33544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218176" y="2514600"/>
            <a:ext cx="230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Freedom to choose</a:t>
            </a:r>
            <a:b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(Tower/Floor)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301752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 highlight one by one, with what is available on each.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58912" y="224028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2960" y="253288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42960" y="2532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27592" y="2514600"/>
            <a:ext cx="230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Units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42960" y="301752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plate opens, cut into flats and coloured by type.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440740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389120"/>
            <a:ext cx="230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Unit Details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89204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detail, the plan drawn to scale, renders, price break-up.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49496" y="411480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33544" y="440740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33544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18176" y="4389120"/>
            <a:ext cx="230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Experience </a:t>
            </a:r>
            <a:r>
              <a:rPr lang="en-US" sz="1700" b="1" kern="0" spc="-30" dirty="0" err="1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immersively</a:t>
            </a: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 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733544" y="489204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room through doorway arrows, or a walkable 3D model.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58912" y="411480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42960" y="4407408"/>
            <a:ext cx="310896" cy="31089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44296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927592" y="4389120"/>
            <a:ext cx="230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Secure It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442960" y="4892040"/>
            <a:ext cx="271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the unit and pay the token, in the same screen.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Interface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40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22199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view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56946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screen on a tablet or the lounge display, controls big enough for a finger.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08376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99008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inventory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3756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 booked in another office turns grey in front of the buyer.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5818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a unit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056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tap, a visible countdown. Holds expire and release themselves.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5262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sheet on screen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87375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Base, floor rise, PLC, parking, charges and GST — computed, not typed.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312664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12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2943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the token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64184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buyer’s own phone, with the receipt sent in seconds.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0" y="2194560"/>
            <a:ext cx="4142232" cy="2103120"/>
          </a:xfrm>
          <a:prstGeom prst="roundRect">
            <a:avLst>
              <a:gd name="adj" fmla="val 2609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26680" y="2487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288036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with a live tower on a tablet outsells the one holding a printed price list — and never quotes a flat that was sold an hour ago.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406640" y="4526280"/>
            <a:ext cx="4142232" cy="15087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26680" y="4773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Afterwards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5120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status, buyer details and the payment reference reach your CRM with no re-entry. Each executive gets their own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“I like this one” to a booked flat – The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20012" cy="2103120"/>
          </a:xfrm>
          <a:prstGeom prst="roundRect">
            <a:avLst>
              <a:gd name="adj" fmla="val 338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90672"/>
            <a:ext cx="1162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A0A0A"/>
                </a:solidFill>
                <a:latin typeface="Arial" pitchFamily="34" charset="0"/>
                <a:cs typeface="Arial" pitchFamily="34" charset="-120"/>
              </a:rPr>
              <a:t>Choose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56432"/>
            <a:ext cx="1089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is held, with a countdown.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60092" y="3246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497836" y="2377440"/>
            <a:ext cx="1620012" cy="2103120"/>
          </a:xfrm>
          <a:prstGeom prst="roundRect">
            <a:avLst>
              <a:gd name="adj" fmla="val 338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2156" y="265176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772156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72156" y="3090672"/>
            <a:ext cx="1162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72156" y="3456432"/>
            <a:ext cx="1089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details, phone verified by OTP.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117848" y="3246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355592" y="2377440"/>
            <a:ext cx="1620012" cy="2103120"/>
          </a:xfrm>
          <a:prstGeom prst="roundRect">
            <a:avLst>
              <a:gd name="adj" fmla="val 338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9912" y="265176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29912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629912" y="3090672"/>
            <a:ext cx="1162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sheet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629912" y="3456432"/>
            <a:ext cx="1089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rate card, agreed on screen.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75604" y="3246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13348" y="2377440"/>
            <a:ext cx="1620012" cy="2103120"/>
          </a:xfrm>
          <a:prstGeom prst="roundRect">
            <a:avLst>
              <a:gd name="adj" fmla="val 338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87668" y="265176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87668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3090672"/>
            <a:ext cx="1162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Request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87668" y="3456432"/>
            <a:ext cx="1089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payment request against that unit.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33360" y="3246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071104" y="2377440"/>
            <a:ext cx="1620012" cy="2103120"/>
          </a:xfrm>
          <a:prstGeom prst="roundRect">
            <a:avLst>
              <a:gd name="adj" fmla="val 3387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45424" y="2651760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45424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45424" y="3090672"/>
            <a:ext cx="1162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Process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45424" y="3456432"/>
            <a:ext cx="1089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buyer’s own phone — UPI or link.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691116" y="3246120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9AA1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9928860" y="2377440"/>
            <a:ext cx="1620012" cy="2103120"/>
          </a:xfrm>
          <a:prstGeom prst="roundRect">
            <a:avLst>
              <a:gd name="adj" fmla="val 338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03180" y="2651760"/>
            <a:ext cx="310896" cy="310896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20318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10203180" y="3090672"/>
            <a:ext cx="11628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0203180" y="3456432"/>
            <a:ext cx="1089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confirms. Receipt sent.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48920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changes status only when the gateway confirms to our server — never on what a browser claims. A failed or abandoned payment releases the hold automatically.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5BE0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things that protect Trident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16181F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615184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596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Transparent Transactions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1089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settle directly into Trident Realty’s own merchant account, on the gateway’s normal cycle. We do not hold, route or disburse buyer funds.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228600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16181F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615184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294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25968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Secured Payment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31089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executive never types a card number, CVV, UPI PIN or OTP. No card data reaches the tablet or our servers, which keeps the system out of PCI-DSS scope.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16181F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4626864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24128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608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Reallocation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51206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booking is written in one locked database transaction. Two executives booking the same flat in the same second produce one booking and one clear message.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429768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16181F"/>
          </a:solidFill>
          <a:ln w="12700">
            <a:solidFill>
              <a:srgbClr val="2428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626864"/>
            <a:ext cx="310896" cy="310896"/>
          </a:xfrm>
          <a:prstGeom prst="ellipse">
            <a:avLst/>
          </a:prstGeom>
          <a:solidFill>
            <a:srgbClr val="2B5C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4608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Unit Allocation after Successful </a:t>
            </a:r>
            <a:r>
              <a:rPr lang="en-US" sz="1700" b="1" kern="0" spc="-30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Txn</a:t>
            </a:r>
            <a:r>
              <a:rPr lang="en-US" sz="1700" b="1" kern="0" spc="-3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512064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2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changes on the gateway’s signed server confirmation only. Every hold, payment attempt, status change and refund is logged and exportable for audit.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your compliance and finance teams will ask first.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 sees before paying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registration number of the project and agent, with the RERA website link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token is a booking amount, not an allotment — allotment follows Trident’s acceptance and the agreement to sell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cancellation and refund policy, shown and ticked before payment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prices, areas and images are indicative, and renders are artist impressions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treatment of the token, and the receipt and invoice that follow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for data processing under the DPDP Act 2023, and the privacy policy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2194560"/>
            <a:ext cx="4142232" cy="20574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26680" y="2468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writes 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2852928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Trident’s counsel supplies the wording. We build the flow around it and keep a versioned record of exactly which text each buyer accepted, and when.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06640" y="4480560"/>
            <a:ext cx="4142232" cy="1463040"/>
          </a:xfrm>
          <a:prstGeom prst="roundRect">
            <a:avLst>
              <a:gd name="adj" fmla="val 3750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26680" y="4718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Refunds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508406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by Finance from the admin panel, against your published policy, with a reason and an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Trident, for Phase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2140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31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sheet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24942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one row per unit: tower, floor, flat no., type, carpet, built-up, SBUA, balcony, facing, rate, status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734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5234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final price is computed — floor rise, PLC, parking, club, statutory charges, GST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36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5526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floor plate per tower and per floor type; unit plan per type with dimensions. PDF or CAD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3016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39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&amp; photos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75818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Exterior, interiors, amenities, site progress — at the highest resolution available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2428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content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26110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Specifications, approvals, possession dates, USPs, developer profile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3600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745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brand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76402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 numbers, disclaimers, privacy policy, terms; logo, fonts, colours, guidelines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3892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248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&amp; owner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526694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or subdomain access, enquiry recipients, and one empowered person to sign off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64184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5934456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clock starts when these arrive, not at signing.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Trident, for Phase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2140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31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Tower orbit renders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224942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180–240 frames, full 360°, 4K, day (night optional) — delivered as numbered frames, not video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734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/ Cryptomatte masks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5234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13–20 stop frames. This is what makes each floor, flat and balcony clickable to the pixel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3697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360° interiors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5526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Equirectangular 2:1, 8000 × 4000, one per room, camera at 1.5 m, one set per unit type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63016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398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3D model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75818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GLB or FBX in metres, under ~300k triangles, PBR materials, rooms named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3308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2428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gateway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26110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Trident’s own merchant account with KYC complete, test and live keys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63600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47457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policy &amp; terms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76402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amount or formula, hold duration, and legally approved booking terms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13892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52486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roles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66160" y="5266944"/>
            <a:ext cx="7982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block, who may book, who may refund, and approval limits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641848"/>
            <a:ext cx="10908792" cy="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934456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" y="6163056"/>
            <a:ext cx="10268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technical brief for your rendering studio comes with this proposal — frame counts, mask passes, camera settings, file naming, and a small pilot batch we test before the full render, so nothing is wasted.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is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4128" y="251460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280720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Next.js, server-rendered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200400"/>
            <a:ext cx="271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visibility for the listing pages, speed on mobile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9496" y="224028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3544" y="251460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LAYER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733544" y="280720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React + Three.js engine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33544" y="3200400"/>
            <a:ext cx="271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and proven; embeds inside any page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58912" y="224028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42960" y="251460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42960" y="280720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API + PostgreSQL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42960" y="3200400"/>
            <a:ext cx="271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integrity — what makes double-booking impossible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43891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" y="468172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storage behind a CDN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5074920"/>
            <a:ext cx="271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frames and panoramas are large; they stream from the edge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9496" y="411480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33544" y="43891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733544" y="468172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Razorpay / PayU / Cashfree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33544" y="5074920"/>
            <a:ext cx="271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settle to Trident; no card data touches our systems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58912" y="4114800"/>
            <a:ext cx="3489960" cy="1645920"/>
          </a:xfrm>
          <a:prstGeom prst="roundRect">
            <a:avLst>
              <a:gd name="adj" fmla="val 333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42960" y="4389120"/>
            <a:ext cx="2758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442960" y="4681728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cloud, Indian region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442960" y="5074920"/>
            <a:ext cx="271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residency, latency, DPDP alignment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in transit and at rest  ·  daily backups with a tested restore  ·  uptime monitoring  ·  rate limiting on forms and payment endpoints  ·  a full audit log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in 7–8 weeks, Phase 2 in 10–12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47802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78892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15468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inventory audit, sitemap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54757" y="224028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10789" y="247802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2–3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110789" y="278892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110789" y="315468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then the visual 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69434" y="224028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25466" y="247802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4–6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25466" y="278892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25466" y="315468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Site, inventory module, admin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110" y="224028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0142" y="247802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40142" y="278892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UAT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40142" y="315468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test, train (</a:t>
            </a:r>
            <a:r>
              <a:rPr lang="en-US" sz="1200" dirty="0"/>
              <a:t>User Acceptance Testing)</a:t>
            </a:r>
          </a:p>
        </p:txBody>
      </p:sp>
      <p:sp>
        <p:nvSpPr>
          <p:cNvPr id="20" name="Shape 18"/>
          <p:cNvSpPr/>
          <p:nvPr/>
        </p:nvSpPr>
        <p:spPr>
          <a:xfrm>
            <a:off x="9498787" y="224028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54819" y="247802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754819" y="278892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54819" y="315468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SSL, monitoring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0624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444398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75488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in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512064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processed, hotspots generated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854757" y="420624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10789" y="444398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110789" y="475488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3110789" y="512064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Tower, floors, units, 360° interiors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69434" y="420624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25466" y="444398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6–8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25466" y="475488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engine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325466" y="512064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Holds, cost sheet, gateway, receipts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84110" y="420624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40142" y="444398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9–10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540142" y="475488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mode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540142" y="512064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view and dashboards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498787" y="4206240"/>
            <a:ext cx="2050085" cy="1691640"/>
          </a:xfrm>
          <a:prstGeom prst="roundRect">
            <a:avLst>
              <a:gd name="adj" fmla="val 3243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54819" y="4443984"/>
            <a:ext cx="1592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11–12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754819" y="4754880"/>
            <a:ext cx="15928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754819" y="5120640"/>
            <a:ext cx="15380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review, UAT,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89960" cy="2834640"/>
          </a:xfrm>
          <a:prstGeom prst="roundRect">
            <a:avLst>
              <a:gd name="adj" fmla="val 193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1024128" y="2651760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017520"/>
            <a:ext cx="275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inventory, leads, Booking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386586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/>
              <a:t>Development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743456" y="385876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5,00,000/-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9496" y="2286000"/>
            <a:ext cx="3489960" cy="2834640"/>
          </a:xfrm>
          <a:prstGeom prst="roundRect">
            <a:avLst>
              <a:gd name="adj" fmla="val 1935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33544" y="2651760"/>
            <a:ext cx="275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3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33544" y="3017520"/>
            <a:ext cx="275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/ 3D interactive tour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58912" y="2286000"/>
            <a:ext cx="3489960" cy="2834640"/>
          </a:xfrm>
          <a:prstGeom prst="roundRect">
            <a:avLst>
              <a:gd name="adj" fmla="val 1935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42960" y="2651760"/>
            <a:ext cx="2758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costs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442960" y="3017520"/>
            <a:ext cx="275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at cost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442960" y="3520440"/>
            <a:ext cx="271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CDN, SMS and WhatsApp credits, and the payment gateway’s own transaction fee are charged by those platforms to Trident directly. We add no margin on them, and we agree a monthly ceiling in advance.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406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on confirming before kickoff  ·  30% on demo  · 20% on go-live.   Then a free support for 1</a:t>
            </a:r>
            <a:r>
              <a:rPr lang="en-US" sz="1350" baseline="30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year.  This proposal is valid for 30 days.</a:t>
            </a:r>
            <a:endParaRPr lang="en-US" sz="135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5E5C6F35-E22A-2372-FBDB-9AFBFC3A6EEA}"/>
              </a:ext>
            </a:extLst>
          </p:cNvPr>
          <p:cNvSpPr txBox="1"/>
          <p:nvPr/>
        </p:nvSpPr>
        <p:spPr>
          <a:xfrm>
            <a:off x="4733544" y="382513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/>
              <a:t>Development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32940737-FEA3-CA55-2BF2-6128DFF70990}"/>
              </a:ext>
            </a:extLst>
          </p:cNvPr>
          <p:cNvSpPr txBox="1"/>
          <p:nvPr/>
        </p:nvSpPr>
        <p:spPr>
          <a:xfrm>
            <a:off x="5519928" y="379476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 25,00,000/-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21792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2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Trident gets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90038" cy="2377440"/>
          </a:xfrm>
          <a:prstGeom prst="roundRect">
            <a:avLst>
              <a:gd name="adj" fmla="val 230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697480"/>
            <a:ext cx="1949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kern="0" spc="-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today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520440"/>
            <a:ext cx="19499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commits standing in the home they just walked through, not two weeks later on a cold call.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2998" y="2286000"/>
            <a:ext cx="2590038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33038" y="2697480"/>
            <a:ext cx="1949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kern="0" spc="-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on spot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733038" y="3520440"/>
            <a:ext cx="19499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Amount collected at the moment of conviction, on the buyer’s own phone, receipt in seconds.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5916" y="2286000"/>
            <a:ext cx="2590038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5956" y="2697480"/>
            <a:ext cx="1949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kern="0" spc="-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sold twice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05956" y="3520440"/>
            <a:ext cx="19499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inventory across every office. No evening spent reconciling three spreadsheets.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58834" y="2286000"/>
            <a:ext cx="2590038" cy="2377440"/>
          </a:xfrm>
          <a:prstGeom prst="roundRect">
            <a:avLst>
              <a:gd name="adj" fmla="val 2308"/>
            </a:avLst>
          </a:prstGeom>
          <a:solidFill>
            <a:srgbClr val="F4F6FB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78874" y="2697480"/>
            <a:ext cx="19499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2000" b="1" kern="0" spc="-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tour measured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278874" y="3520440"/>
            <a:ext cx="19499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towers, which floors, which units are blocked but not paid — marketing follows evidence.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120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platform outlives the project — the second Trident project is a configuration, not another build.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40080" y="4846320"/>
            <a:ext cx="1645920" cy="0"/>
          </a:xfrm>
          <a:prstGeom prst="line">
            <a:avLst/>
          </a:prstGeom>
          <a:noFill/>
          <a:ln w="12700">
            <a:solidFill>
              <a:srgbClr val="3A3F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Artors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413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E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business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Floor, Sapphire Mall, Gurugram, Haryana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95993 34008  ·  ai@artors.in  ·  artors.in</a:t>
            </a:r>
            <a:endParaRPr lang="en-US" sz="13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C068F110-916C-EC94-AA49-2CB32E7DF97A}"/>
              </a:ext>
            </a:extLst>
          </p:cNvPr>
          <p:cNvSpPr txBox="1"/>
          <p:nvPr/>
        </p:nvSpPr>
        <p:spPr>
          <a:xfrm>
            <a:off x="592785" y="4129936"/>
            <a:ext cx="13816898" cy="2009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kern="0" spc="-11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THANK YOU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2078</Words>
  <Application>Microsoft Office PowerPoint</Application>
  <PresentationFormat>Widescreen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Artors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Trident Realty — project website and immersive booking</dc:title>
  <dc:subject>PptxGenJS Presentation</dc:subject>
  <dc:creator>Artors</dc:creator>
  <cp:lastModifiedBy>Amul sharma</cp:lastModifiedBy>
  <cp:revision>2</cp:revision>
  <dcterms:created xsi:type="dcterms:W3CDTF">2026-09-24T06:36:01Z</dcterms:created>
  <dcterms:modified xsi:type="dcterms:W3CDTF">2026-09-24T13:26:58Z</dcterms:modified>
</cp:coreProperties>
</file>